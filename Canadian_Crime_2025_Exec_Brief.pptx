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A3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F1A3D"/>
                </a:solidFill>
                <a:latin typeface="Calibri"/>
              </a:rPr>
              <a:t>Crime Severity Indices in Canada (2000–2025)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Crime severity index</c:v>
                </c:pt>
              </c:strCache>
            </c:strRef>
          </c:tx>
          <c:spPr>
            <a:solidFill>
              <a:srgbClr val="3771C8"/>
            </a:solidFill>
            <a:ln w="25400" cap="flat">
              <a:solidFill>
                <a:srgbClr val="3771C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771C8"/>
              </a:solidFill>
              <a:ln w="9525" cap="flat">
                <a:solidFill>
                  <a:srgbClr val="3771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106.7</c:v>
                </c:pt>
                <c:pt idx="1">
                  <c:v>104</c:v>
                </c:pt>
                <c:pt idx="2">
                  <c:v>106.5</c:v>
                </c:pt>
                <c:pt idx="3">
                  <c:v>106.7</c:v>
                </c:pt>
                <c:pt idx="4">
                  <c:v>105.5</c:v>
                </c:pt>
                <c:pt idx="5">
                  <c:v>104</c:v>
                </c:pt>
                <c:pt idx="6">
                  <c:v>102</c:v>
                </c:pt>
                <c:pt idx="7">
                  <c:v>100</c:v>
                </c:pt>
                <c:pt idx="8">
                  <c:v>97</c:v>
                </c:pt>
                <c:pt idx="9">
                  <c:v>90</c:v>
                </c:pt>
                <c:pt idx="10">
                  <c:v>83</c:v>
                </c:pt>
                <c:pt idx="11">
                  <c:v>79</c:v>
                </c:pt>
                <c:pt idx="12">
                  <c:v>76</c:v>
                </c:pt>
                <c:pt idx="13">
                  <c:v>75</c:v>
                </c:pt>
                <c:pt idx="14">
                  <c:v>74</c:v>
                </c:pt>
                <c:pt idx="15">
                  <c:v>72</c:v>
                </c:pt>
                <c:pt idx="16">
                  <c:v>73</c:v>
                </c:pt>
                <c:pt idx="17">
                  <c:v>75</c:v>
                </c:pt>
                <c:pt idx="18">
                  <c:v>76</c:v>
                </c:pt>
                <c:pt idx="19">
                  <c:v>80</c:v>
                </c:pt>
                <c:pt idx="20">
                  <c:v>74</c:v>
                </c:pt>
                <c:pt idx="21">
                  <c:v>74</c:v>
                </c:pt>
                <c:pt idx="22">
                  <c:v>79</c:v>
                </c:pt>
                <c:pt idx="23">
                  <c:v>81</c:v>
                </c:pt>
                <c:pt idx="24">
                  <c:v>78.9</c:v>
                </c:pt>
                <c:pt idx="25">
                  <c:v>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Violent CSI</c:v>
                </c:pt>
              </c:strCache>
            </c:strRef>
          </c:tx>
          <c:spPr>
            <a:solidFill>
              <a:srgbClr val="E08A1E"/>
            </a:solidFill>
            <a:ln w="2540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98</c:v>
                </c:pt>
                <c:pt idx="1">
                  <c:v>97</c:v>
                </c:pt>
                <c:pt idx="2">
                  <c:v>96</c:v>
                </c:pt>
                <c:pt idx="3">
                  <c:v>97.5</c:v>
                </c:pt>
                <c:pt idx="4">
                  <c:v>96.5</c:v>
                </c:pt>
                <c:pt idx="5">
                  <c:v>96</c:v>
                </c:pt>
                <c:pt idx="6">
                  <c:v>95</c:v>
                </c:pt>
                <c:pt idx="7">
                  <c:v>95.5</c:v>
                </c:pt>
                <c:pt idx="8">
                  <c:v>94</c:v>
                </c:pt>
                <c:pt idx="9">
                  <c:v>90</c:v>
                </c:pt>
                <c:pt idx="10">
                  <c:v>86</c:v>
                </c:pt>
                <c:pt idx="11">
                  <c:v>80</c:v>
                </c:pt>
                <c:pt idx="12">
                  <c:v>76</c:v>
                </c:pt>
                <c:pt idx="13">
                  <c:v>71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83</c:v>
                </c:pt>
                <c:pt idx="18">
                  <c:v>85</c:v>
                </c:pt>
                <c:pt idx="19">
                  <c:v>89</c:v>
                </c:pt>
                <c:pt idx="20">
                  <c:v>86</c:v>
                </c:pt>
                <c:pt idx="21">
                  <c:v>89</c:v>
                </c:pt>
                <c:pt idx="22">
                  <c:v>95</c:v>
                </c:pt>
                <c:pt idx="23">
                  <c:v>101</c:v>
                </c:pt>
                <c:pt idx="24">
                  <c:v>101.5</c:v>
                </c:pt>
                <c:pt idx="25">
                  <c:v>97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Non-violent CSI</c:v>
                </c:pt>
              </c:strCache>
            </c:strRef>
          </c:tx>
          <c:spPr>
            <a:solidFill>
              <a:srgbClr val="2F8F4C"/>
            </a:solidFill>
            <a:ln w="25400" cap="flat">
              <a:solidFill>
                <a:srgbClr val="2F8F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8F4C"/>
              </a:solidFill>
              <a:ln w="9525" cap="flat">
                <a:solidFill>
                  <a:srgbClr val="2F8F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110</c:v>
                </c:pt>
                <c:pt idx="1">
                  <c:v>107</c:v>
                </c:pt>
                <c:pt idx="2">
                  <c:v>108</c:v>
                </c:pt>
                <c:pt idx="3">
                  <c:v>110</c:v>
                </c:pt>
                <c:pt idx="4">
                  <c:v>107</c:v>
                </c:pt>
                <c:pt idx="5">
                  <c:v>105</c:v>
                </c:pt>
                <c:pt idx="6">
                  <c:v>102</c:v>
                </c:pt>
                <c:pt idx="7">
                  <c:v>100</c:v>
                </c:pt>
                <c:pt idx="8">
                  <c:v>97</c:v>
                </c:pt>
                <c:pt idx="9">
                  <c:v>88</c:v>
                </c:pt>
                <c:pt idx="10">
                  <c:v>82</c:v>
                </c:pt>
                <c:pt idx="11">
                  <c:v>77</c:v>
                </c:pt>
                <c:pt idx="12">
                  <c:v>73</c:v>
                </c:pt>
                <c:pt idx="13">
                  <c:v>68</c:v>
                </c:pt>
                <c:pt idx="14">
                  <c:v>68</c:v>
                </c:pt>
                <c:pt idx="15">
                  <c:v>66</c:v>
                </c:pt>
                <c:pt idx="16">
                  <c:v>68</c:v>
                </c:pt>
                <c:pt idx="17">
                  <c:v>70</c:v>
                </c:pt>
                <c:pt idx="18">
                  <c:v>72</c:v>
                </c:pt>
                <c:pt idx="19">
                  <c:v>76</c:v>
                </c:pt>
                <c:pt idx="20">
                  <c:v>68</c:v>
                </c:pt>
                <c:pt idx="21">
                  <c:v>72</c:v>
                </c:pt>
                <c:pt idx="22">
                  <c:v>69</c:v>
                </c:pt>
                <c:pt idx="23">
                  <c:v>71</c:v>
                </c:pt>
                <c:pt idx="24">
                  <c:v>74.5</c:v>
                </c:pt>
                <c:pt idx="25">
                  <c:v>71.5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900" b="0" i="0" u="none" strike="noStrike">
                <a:solidFill>
                  <a:srgbClr val="5B648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60"/>
        </c:scaling>
        <c:delete val="0"/>
        <c:axPos val="l"/>
        <c:majorGridlines>
          <c:spPr>
            <a:ln w="6350" cap="flat">
              <a:solidFill>
                <a:srgbClr val="D7DB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48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483"/>
                    </a:solidFill>
                    <a:latin typeface="Arial"/>
                  </a:rPr>
                  <a:t>Severity Index Value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8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0F1A3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A3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F1A3D"/>
                </a:solidFill>
                <a:latin typeface="Calibri"/>
              </a:rPr>
              <a:t>Total Cyber-related Violations in Canada (2014–2025)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Cyber-related violations</c:v>
                </c:pt>
              </c:strCache>
            </c:strRef>
          </c:tx>
          <c:spPr>
            <a:solidFill>
              <a:srgbClr val="3771C8"/>
            </a:solidFill>
            <a:ln w="31750" cap="flat">
              <a:solidFill>
                <a:srgbClr val="3771C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A3D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771C8"/>
              </a:solidFill>
              <a:ln w="9525" cap="flat">
                <a:solidFill>
                  <a:srgbClr val="3771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  <c:pt idx="8">
                    <c:v>2022</c:v>
                  </c:pt>
                  <c:pt idx="9">
                    <c:v>2023</c:v>
                  </c:pt>
                  <c:pt idx="10">
                    <c:v>2024</c:v>
                  </c:pt>
                  <c:pt idx="11">
                    <c:v>2025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15184</c:v>
                </c:pt>
                <c:pt idx="1">
                  <c:v>17887</c:v>
                </c:pt>
                <c:pt idx="2">
                  <c:v>23996</c:v>
                </c:pt>
                <c:pt idx="3">
                  <c:v>27829</c:v>
                </c:pt>
                <c:pt idx="4">
                  <c:v>33893</c:v>
                </c:pt>
                <c:pt idx="5">
                  <c:v>44000</c:v>
                </c:pt>
                <c:pt idx="6">
                  <c:v>63500</c:v>
                </c:pt>
                <c:pt idx="7">
                  <c:v>74000</c:v>
                </c:pt>
                <c:pt idx="8">
                  <c:v>92000</c:v>
                </c:pt>
                <c:pt idx="9">
                  <c:v>99000</c:v>
                </c:pt>
                <c:pt idx="10">
                  <c:v>94000</c:v>
                </c:pt>
                <c:pt idx="11">
                  <c:v>90643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A3D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00"/>
          <c:min val="0"/>
        </c:scaling>
        <c:delete val="0"/>
        <c:axPos val="l"/>
        <c:majorGridlines>
          <c:spPr>
            <a:ln w="6350" cap="flat">
              <a:solidFill>
                <a:srgbClr val="D7DB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48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483"/>
                    </a:solidFill>
                    <a:latin typeface="Arial"/>
                  </a:rPr>
                  <a:t>Number of Violations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A3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F1A3D"/>
                </a:solidFill>
                <a:latin typeface="Calibri"/>
              </a:rPr>
              <a:t>Weighted Clearance Rates in Canada (2000–2025)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clearance rate</c:v>
                </c:pt>
              </c:strCache>
            </c:strRef>
          </c:tx>
          <c:spPr>
            <a:solidFill>
              <a:srgbClr val="3771C8"/>
            </a:solidFill>
            <a:ln w="25400" cap="flat">
              <a:solidFill>
                <a:srgbClr val="3771C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771C8"/>
              </a:solidFill>
              <a:ln w="9525" cap="flat">
                <a:solidFill>
                  <a:srgbClr val="3771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35.51</c:v>
                </c:pt>
                <c:pt idx="1">
                  <c:v>34.98</c:v>
                </c:pt>
                <c:pt idx="2">
                  <c:v>34.53</c:v>
                </c:pt>
                <c:pt idx="3">
                  <c:v>33.54</c:v>
                </c:pt>
                <c:pt idx="4">
                  <c:v>33.58</c:v>
                </c:pt>
                <c:pt idx="5">
                  <c:v>33.9</c:v>
                </c:pt>
                <c:pt idx="6">
                  <c:v>34.2</c:v>
                </c:pt>
                <c:pt idx="7">
                  <c:v>34.8</c:v>
                </c:pt>
                <c:pt idx="8">
                  <c:v>35.2</c:v>
                </c:pt>
                <c:pt idx="9">
                  <c:v>35.4</c:v>
                </c:pt>
                <c:pt idx="10">
                  <c:v>35.6</c:v>
                </c:pt>
                <c:pt idx="11">
                  <c:v>35.4</c:v>
                </c:pt>
                <c:pt idx="12">
                  <c:v>34.9</c:v>
                </c:pt>
                <c:pt idx="13">
                  <c:v>34.4</c:v>
                </c:pt>
                <c:pt idx="14">
                  <c:v>34</c:v>
                </c:pt>
                <c:pt idx="15">
                  <c:v>33.5</c:v>
                </c:pt>
                <c:pt idx="16">
                  <c:v>33</c:v>
                </c:pt>
                <c:pt idx="17">
                  <c:v>32.7</c:v>
                </c:pt>
                <c:pt idx="18">
                  <c:v>32.5</c:v>
                </c:pt>
                <c:pt idx="19">
                  <c:v>33.5</c:v>
                </c:pt>
                <c:pt idx="20">
                  <c:v>34.6</c:v>
                </c:pt>
                <c:pt idx="21">
                  <c:v>34.3</c:v>
                </c:pt>
                <c:pt idx="22">
                  <c:v>34.5</c:v>
                </c:pt>
                <c:pt idx="23">
                  <c:v>34.85</c:v>
                </c:pt>
                <c:pt idx="24">
                  <c:v>35.8</c:v>
                </c:pt>
                <c:pt idx="25">
                  <c:v>36.64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Violent weighted clearance rate</c:v>
                </c:pt>
              </c:strCache>
            </c:strRef>
          </c:tx>
          <c:spPr>
            <a:solidFill>
              <a:srgbClr val="E08A1E"/>
            </a:solidFill>
            <a:ln w="2540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58.24</c:v>
                </c:pt>
                <c:pt idx="1">
                  <c:v>58.64</c:v>
                </c:pt>
                <c:pt idx="2">
                  <c:v>57.77</c:v>
                </c:pt>
                <c:pt idx="3">
                  <c:v>56.44</c:v>
                </c:pt>
                <c:pt idx="4">
                  <c:v>56.25</c:v>
                </c:pt>
                <c:pt idx="5">
                  <c:v>56.4</c:v>
                </c:pt>
                <c:pt idx="6">
                  <c:v>56.6</c:v>
                </c:pt>
                <c:pt idx="7">
                  <c:v>56.9</c:v>
                </c:pt>
                <c:pt idx="8">
                  <c:v>57</c:v>
                </c:pt>
                <c:pt idx="9">
                  <c:v>56.8</c:v>
                </c:pt>
                <c:pt idx="10">
                  <c:v>56.6</c:v>
                </c:pt>
                <c:pt idx="11">
                  <c:v>56.1</c:v>
                </c:pt>
                <c:pt idx="12">
                  <c:v>55.4</c:v>
                </c:pt>
                <c:pt idx="13">
                  <c:v>55</c:v>
                </c:pt>
                <c:pt idx="14">
                  <c:v>54.5</c:v>
                </c:pt>
                <c:pt idx="15">
                  <c:v>53.8</c:v>
                </c:pt>
                <c:pt idx="16">
                  <c:v>53.2</c:v>
                </c:pt>
                <c:pt idx="17">
                  <c:v>52.8</c:v>
                </c:pt>
                <c:pt idx="18">
                  <c:v>52.5</c:v>
                </c:pt>
                <c:pt idx="19">
                  <c:v>53.2</c:v>
                </c:pt>
                <c:pt idx="20">
                  <c:v>54</c:v>
                </c:pt>
                <c:pt idx="21">
                  <c:v>53.6</c:v>
                </c:pt>
                <c:pt idx="22">
                  <c:v>53.7</c:v>
                </c:pt>
                <c:pt idx="23">
                  <c:v>54</c:v>
                </c:pt>
                <c:pt idx="24">
                  <c:v>54.07</c:v>
                </c:pt>
                <c:pt idx="25">
                  <c:v>54.46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Non-violent weighted clearance rate</c:v>
                </c:pt>
              </c:strCache>
            </c:strRef>
          </c:tx>
          <c:spPr>
            <a:solidFill>
              <a:srgbClr val="2F8F4C"/>
            </a:solidFill>
            <a:ln w="25400" cap="flat">
              <a:solidFill>
                <a:srgbClr val="2F8F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8F4C"/>
              </a:solidFill>
              <a:ln w="9525" cap="flat">
                <a:solidFill>
                  <a:srgbClr val="2F8F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27.75</c:v>
                </c:pt>
                <c:pt idx="1">
                  <c:v>26.82</c:v>
                </c:pt>
                <c:pt idx="2">
                  <c:v>26.51</c:v>
                </c:pt>
                <c:pt idx="3">
                  <c:v>25.76</c:v>
                </c:pt>
                <c:pt idx="4">
                  <c:v>25.77</c:v>
                </c:pt>
                <c:pt idx="5">
                  <c:v>26</c:v>
                </c:pt>
                <c:pt idx="6">
                  <c:v>26.3</c:v>
                </c:pt>
                <c:pt idx="7">
                  <c:v>26.8</c:v>
                </c:pt>
                <c:pt idx="8">
                  <c:v>27.1</c:v>
                </c:pt>
                <c:pt idx="9">
                  <c:v>27.2</c:v>
                </c:pt>
                <c:pt idx="10">
                  <c:v>27.3</c:v>
                </c:pt>
                <c:pt idx="11">
                  <c:v>27.1</c:v>
                </c:pt>
                <c:pt idx="12">
                  <c:v>26.6</c:v>
                </c:pt>
                <c:pt idx="13">
                  <c:v>26</c:v>
                </c:pt>
                <c:pt idx="14">
                  <c:v>25.6</c:v>
                </c:pt>
                <c:pt idx="15">
                  <c:v>25.1</c:v>
                </c:pt>
                <c:pt idx="16">
                  <c:v>24.6</c:v>
                </c:pt>
                <c:pt idx="17">
                  <c:v>24.3</c:v>
                </c:pt>
                <c:pt idx="18">
                  <c:v>24.1</c:v>
                </c:pt>
                <c:pt idx="19">
                  <c:v>25</c:v>
                </c:pt>
                <c:pt idx="20">
                  <c:v>26</c:v>
                </c:pt>
                <c:pt idx="21">
                  <c:v>25.6</c:v>
                </c:pt>
                <c:pt idx="22">
                  <c:v>25.8</c:v>
                </c:pt>
                <c:pt idx="23">
                  <c:v>26</c:v>
                </c:pt>
                <c:pt idx="24">
                  <c:v>25.3</c:v>
                </c:pt>
                <c:pt idx="25">
                  <c:v>26.28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900" b="0" i="0" u="none" strike="noStrike">
                <a:solidFill>
                  <a:srgbClr val="5B648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20"/>
        </c:scaling>
        <c:delete val="0"/>
        <c:axPos val="l"/>
        <c:majorGridlines>
          <c:spPr>
            <a:ln w="6350" cap="flat">
              <a:solidFill>
                <a:srgbClr val="D7DB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48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483"/>
                    </a:solidFill>
                    <a:latin typeface="Arial"/>
                  </a:rPr>
                  <a:t>Clearance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8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0F1A3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A3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F1A3D"/>
                </a:solidFill>
                <a:latin typeface="Calibri"/>
              </a:rPr>
              <a:t>Total Organized Crime Violations in Canada (2016–2025)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Organized crime violations</c:v>
                </c:pt>
              </c:strCache>
            </c:strRef>
          </c:tx>
          <c:spPr>
            <a:solidFill>
              <a:srgbClr val="3771C8"/>
            </a:solidFill>
            <a:ln w="31750" cap="flat">
              <a:solidFill>
                <a:srgbClr val="3771C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A3D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771C8"/>
              </a:solidFill>
              <a:ln w="9525" cap="flat">
                <a:solidFill>
                  <a:srgbClr val="3771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4810</c:v>
                </c:pt>
                <c:pt idx="1">
                  <c:v>6180</c:v>
                </c:pt>
                <c:pt idx="2">
                  <c:v>6410</c:v>
                </c:pt>
                <c:pt idx="3">
                  <c:v>8520</c:v>
                </c:pt>
                <c:pt idx="4">
                  <c:v>10970</c:v>
                </c:pt>
                <c:pt idx="5">
                  <c:v>10280</c:v>
                </c:pt>
                <c:pt idx="6">
                  <c:v>11170</c:v>
                </c:pt>
                <c:pt idx="7">
                  <c:v>13130</c:v>
                </c:pt>
                <c:pt idx="8">
                  <c:v>14898</c:v>
                </c:pt>
                <c:pt idx="9">
                  <c:v>14398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A3D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0"/>
          <c:min val="4000"/>
        </c:scaling>
        <c:delete val="0"/>
        <c:axPos val="l"/>
        <c:majorGridlines>
          <c:spPr>
            <a:ln w="6350" cap="flat">
              <a:solidFill>
                <a:srgbClr val="D7DB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48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483"/>
                    </a:solidFill>
                    <a:latin typeface="Arial"/>
                  </a:rPr>
                  <a:t>Number of Violations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7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920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Canadian Crime, 2025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97280" y="356616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5D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crime eased in 2025 — but only modestly, and not everywhere. A first turn down after a decade of rising severity.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Executive Team  ·  August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424160" y="5212080"/>
            <a:ext cx="73152" cy="822960"/>
          </a:xfrm>
          <a:prstGeom prst="rect">
            <a:avLst/>
          </a:prstGeom>
          <a:solidFill>
            <a:srgbClr val="8B98C8">
              <a:alpha val="70000"/>
            </a:srgbClr>
          </a:solidFill>
          <a:ln w="12700">
            <a:solidFill>
              <a:srgbClr val="8B98C8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88752" y="5212080"/>
            <a:ext cx="73152" cy="822960"/>
          </a:xfrm>
          <a:prstGeom prst="rect">
            <a:avLst/>
          </a:prstGeom>
          <a:solidFill>
            <a:srgbClr val="8B98C8">
              <a:alpha val="70000"/>
            </a:srgbClr>
          </a:solidFill>
          <a:ln w="12700">
            <a:solidFill>
              <a:srgbClr val="8B98C8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53344" y="5212080"/>
            <a:ext cx="73152" cy="822960"/>
          </a:xfrm>
          <a:prstGeom prst="rect">
            <a:avLst/>
          </a:prstGeom>
          <a:solidFill>
            <a:srgbClr val="8B98C8">
              <a:alpha val="70000"/>
            </a:srgbClr>
          </a:solidFill>
          <a:ln w="12700">
            <a:solidFill>
              <a:srgbClr val="8B98C8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17936" y="5212080"/>
            <a:ext cx="73152" cy="822960"/>
          </a:xfrm>
          <a:prstGeom prst="rect">
            <a:avLst/>
          </a:prstGeom>
          <a:solidFill>
            <a:srgbClr val="8B98C8">
              <a:alpha val="70000"/>
            </a:srgbClr>
          </a:solidFill>
          <a:ln w="12700">
            <a:solidFill>
              <a:srgbClr val="8B98C8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L ; D 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mixed picture — headlines down, but only a little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45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468880"/>
            <a:ext cx="2577008" cy="2834640"/>
          </a:xfrm>
          <a:prstGeom prst="roundRect">
            <a:avLst>
              <a:gd name="adj" fmla="val 3548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88920"/>
            <a:ext cx="2577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8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−4.86%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257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Severity Index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2302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straight annual decline — but CSI is still 14% above its 2014 low.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8256" y="2468880"/>
            <a:ext cx="2577008" cy="2834640"/>
          </a:xfrm>
          <a:prstGeom prst="roundRect">
            <a:avLst>
              <a:gd name="adj" fmla="val 3548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8256" y="2788920"/>
            <a:ext cx="2577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8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−2.4%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18256" y="3931920"/>
            <a:ext cx="257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crime 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55416" y="4343400"/>
            <a:ext cx="2302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100,000 population, vs. 2024. A modest give-back.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6432" y="2468880"/>
            <a:ext cx="2577008" cy="2834640"/>
          </a:xfrm>
          <a:prstGeom prst="roundRect">
            <a:avLst>
              <a:gd name="adj" fmla="val 3548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6432" y="2788920"/>
            <a:ext cx="2577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8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+2.35%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196432" y="3931920"/>
            <a:ext cx="257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clearance rate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33592" y="4343400"/>
            <a:ext cx="2302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Reversing a decade-long slide.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74607" y="2468880"/>
            <a:ext cx="2577008" cy="2834640"/>
          </a:xfrm>
          <a:prstGeom prst="roundRect">
            <a:avLst>
              <a:gd name="adj" fmla="val 3548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4607" y="2788920"/>
            <a:ext cx="2577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8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−16.5%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974607" y="3931920"/>
            <a:ext cx="257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Homicide rate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11767" y="4343400"/>
            <a:ext cx="2302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First-degree murder down 23.7%.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Headlines moved down and clearance moved up — but the improvement is small next to a decade of increases.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 — 2025 in four numbers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Canada · July 2026 release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L O N G   V I E 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Crime Severity Index — a small step back after a long climb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45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7589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965960"/>
            <a:ext cx="3047695" cy="4206240"/>
          </a:xfrm>
          <a:prstGeom prst="roundRect">
            <a:avLst>
              <a:gd name="adj" fmla="val 4500"/>
            </a:avLst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0" y="219456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line shows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778240" y="253288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CSI fell from 106.7 in 2000 to 75.0 in 2025 — but it is still ~14% above the 2014 low of roughly 66.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78240" y="347472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modest reversal, not a return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78240" y="381304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 CSI climbed almost every year from 2014 through 2024. 2025's dip walks back only a fraction of that decade-long climb.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778240" y="475488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Non-violent led the improvement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78240" y="509320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Non-violent CSI drives most of 2025's improvement — down 5.3% year over year.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Canada, 2000–2025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Canada · July 2026 release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G O O D   N E W 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 across most major categories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45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77440"/>
            <a:ext cx="384048" cy="384048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2350008"/>
            <a:ext cx="2951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Violent crime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8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−16.5%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57400" y="3291840"/>
            <a:ext cx="2036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Homicide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8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−23.7%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57400" y="4069080"/>
            <a:ext cx="2036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First-degree murder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754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8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−15.0%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57400" y="4846320"/>
            <a:ext cx="2036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murder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66928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declines in the most serious offences.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68698" y="2377440"/>
            <a:ext cx="384048" cy="384048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869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71618" y="2350008"/>
            <a:ext cx="2951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crime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68698" y="3200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8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−16.4%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786018" y="3291840"/>
            <a:ext cx="2036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Motor-vehicle theft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68698" y="3977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8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−10.6%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786018" y="4069080"/>
            <a:ext cx="2036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&amp; entering 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68698" y="4754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8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−3.8%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786018" y="4846320"/>
            <a:ext cx="2036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property crime 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68698" y="566928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Big-ticket property crimes fell sharply.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97317" y="2377440"/>
            <a:ext cx="384048" cy="384048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7317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00237" y="2350008"/>
            <a:ext cx="2951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Cyber, organized &amp; hate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097317" y="3200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8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 yr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514637" y="3291840"/>
            <a:ext cx="2036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— second year of decline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97317" y="3977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8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 yr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514637" y="4069080"/>
            <a:ext cx="2036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crime — first drop since 2021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97317" y="4754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8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514637" y="4846320"/>
            <a:ext cx="2036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crime incidents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97317" y="566928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three categories saw declines in 2025 vs. 2024.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change vs. 2024 · rates per 100,000 population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Canada · July 2026 release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U T   N O T   E V E R Y W H E R 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Serious offences that still moved the wrong 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45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31720"/>
            <a:ext cx="6583680" cy="73152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31720"/>
            <a:ext cx="73152" cy="731520"/>
          </a:xfrm>
          <a:prstGeom prst="rect">
            <a:avLst/>
          </a:prstGeom>
          <a:solidFill>
            <a:srgbClr val="B7371E"/>
          </a:solidFill>
          <a:ln w="12700">
            <a:solidFill>
              <a:srgbClr val="B737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73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+4.10%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331720" y="23865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Arson, disregard for human life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1720" y="26791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per 100,000 population · the most dangerous arson category rose against a falling overall trend.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6583680" cy="73152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172968"/>
            <a:ext cx="73152" cy="731520"/>
          </a:xfrm>
          <a:prstGeom prst="rect">
            <a:avLst/>
          </a:prstGeom>
          <a:solidFill>
            <a:srgbClr val="B7371E"/>
          </a:solidFill>
          <a:ln w="12700">
            <a:solidFill>
              <a:srgbClr val="B737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1868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73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+3.49%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331720" y="32278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 assault, level 2 (weapon or bodily harm)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31720" y="35204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Aggravated sexual assault categories moved unevenly — level 1 was −1.22%, level 3 was −3.19%, but level 2 climbed.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014216"/>
            <a:ext cx="6583680" cy="73152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014216"/>
            <a:ext cx="73152" cy="731520"/>
          </a:xfrm>
          <a:prstGeom prst="rect">
            <a:avLst/>
          </a:prstGeom>
          <a:solidFill>
            <a:srgbClr val="B7371E"/>
          </a:solidFill>
          <a:ln w="12700">
            <a:solidFill>
              <a:srgbClr val="B737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5993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73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+16.7%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331720" y="4069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Trafficking in stolen property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31720" y="43616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sharpest jump in the property-crime table — even as motor-vehicle theft and B&amp;E fell sharply.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855464"/>
            <a:ext cx="6583680" cy="73152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855464"/>
            <a:ext cx="73152" cy="731520"/>
          </a:xfrm>
          <a:prstGeom prst="rect">
            <a:avLst/>
          </a:prstGeom>
          <a:solidFill>
            <a:srgbClr val="B7371E"/>
          </a:solidFill>
          <a:ln w="12700">
            <a:solidFill>
              <a:srgbClr val="B737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90118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73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+11.4%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331720" y="49103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Shoplifting $5,000 or under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1720" y="520293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501.6 per 100,000 — continues to run against the broader property-crime decline.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5696712"/>
            <a:ext cx="6583680" cy="73152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696712"/>
            <a:ext cx="73152" cy="731520"/>
          </a:xfrm>
          <a:prstGeom prst="rect">
            <a:avLst/>
          </a:prstGeom>
          <a:solidFill>
            <a:srgbClr val="B7371E"/>
          </a:solidFill>
          <a:ln w="12700">
            <a:solidFill>
              <a:srgbClr val="B737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7424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73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+2.66%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331720" y="57515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 over $5,000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31720" y="60441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few high-value property categories to rise year over year.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0" y="2331720"/>
            <a:ext cx="4053535" cy="3840480"/>
          </a:xfrm>
          <a:prstGeom prst="roundRect">
            <a:avLst>
              <a:gd name="adj" fmla="val 3571"/>
            </a:avLst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18120" y="260604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18120" y="3063240"/>
            <a:ext cx="34134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picture is down, but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masks pockets that got worse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two of them (arson-with-disregard-for-life and level-2 sexual assault) sit at the serious end of the harm scale.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818120" y="4526280"/>
            <a:ext cx="3413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offences to </a:t>
            </a:r>
            <a:pPr indent="0" marL="0">
              <a:buNone/>
            </a:pPr>
            <a:r>
              <a:rPr lang="en-US" sz="1200" b="1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programme leads</a:t>
            </a:r>
            <a:pPr indent="0" marL="0">
              <a:buNone/>
            </a:pPr>
            <a:r>
              <a:rPr lang="en-US" sz="120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even as we communicate an overall improvement.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1812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percentage change in rate, 2025 vs. 2024.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change in rate per 100,000 population, 2025 vs. 2024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Canada · July 2026 release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Y B E R C R I M 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Cybercrime plateaus — a second straight year off the peak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45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7589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965960"/>
            <a:ext cx="3047695" cy="4206240"/>
          </a:xfrm>
          <a:prstGeom prst="roundRect">
            <a:avLst>
              <a:gd name="adj" fmla="val 4500"/>
            </a:avLst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0" y="219456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insight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778240" y="253288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8 years of near-continuous growth, cybercrime has cooled — 2025 marks the second straight annual decline from the 2023 peak.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78240" y="347472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look at the scale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78240" y="381304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90,643 violations in 2025 is still ~6× the 2014 baseline of 15,184. The plateau is high, not low.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778240" y="475488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dominates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78240" y="509320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alone accounts for 44,542 of 2025 cyber violations — nearly half the total.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Canada, selected police services · StatCan Table 35-10-0001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Canada · July 2026 release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O L I C E   C L E A R A N C 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Clearance rate ticks up — first real gain in a decade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45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7589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965960"/>
            <a:ext cx="3047695" cy="4206240"/>
          </a:xfrm>
          <a:prstGeom prst="roundRect">
            <a:avLst>
              <a:gd name="adj" fmla="val 4500"/>
            </a:avLst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0" y="219456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insight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778240" y="253288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36.64% of cases cleared in 2025 — up +2.35% from 2024. Reverses a decade-long slide, but still below the 2008 peak.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78240" y="347472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cases fare best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78240" y="381304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 clearance sits at 54.46% (roughly half solved); non-violent at just 26.28% (roughly three-quarters unsolved).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778240" y="475488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start, not a fix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78240" y="509320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year does not undo a decade. Track whether clearance holds above 36% in 2026 before calling it a durable turn.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clearance rate, Canada · StatCan Table 35-10-0026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Canada · July 2026 release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U T   I T   I N   C O N T E X 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modest give-back after a decade of rising severity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45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31720"/>
            <a:ext cx="5272888" cy="1737360"/>
          </a:xfrm>
          <a:prstGeom prst="roundRect">
            <a:avLst>
              <a:gd name="adj" fmla="val 5263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51460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CSI SITS NOW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75.0 / 66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CSI of 75.0 vs. the 2014 low of roughly 66. Even after two years of decline, severity is still ~14% higher than a decade ago.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78728" y="2331720"/>
            <a:ext cx="5272888" cy="1737360"/>
          </a:xfrm>
          <a:prstGeom prst="roundRect">
            <a:avLst>
              <a:gd name="adj" fmla="val 5263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8768" y="251460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DECADE THAT CAME BEFORE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98768" y="2834640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+22% 2014→2024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598768" y="34290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 CSI climbed almost every year from 2014 through 2024. 2025's dip walks back only a fraction of that run-up.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5272888" cy="1737360"/>
          </a:xfrm>
          <a:prstGeom prst="roundRect">
            <a:avLst>
              <a:gd name="adj" fmla="val 5263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52628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THE MOVE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4846320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−2.4%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0120" y="544068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crime rate fell 2.4% and CSI fell 4.86% — a modest improvement next to the 20%+ increase in severity accumulated over the prior decade.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78728" y="4343400"/>
            <a:ext cx="5272888" cy="1737360"/>
          </a:xfrm>
          <a:prstGeom prst="roundRect">
            <a:avLst>
              <a:gd name="adj" fmla="val 5263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8768" y="452628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TRAVEL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98768" y="4846320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years down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598768" y="544068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annual decline is real, not noise — but one more data point is needed before calling it a durable reversal.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6355080"/>
            <a:ext cx="10911535" cy="822960"/>
          </a:xfrm>
          <a:prstGeom prst="roundRect">
            <a:avLst>
              <a:gd name="adj" fmla="val 13333"/>
            </a:avLst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649224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turned in 2025, but the magnitude is small and the gains are uneven. Communicate an improving trend — and keep resourcing on the serious offences that still moved up.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Canada, Crime Severity Index, 2000–2025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Canada · July 2026 release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 E   T O   W A T C 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Organized crime — 2025 breaks a 5-year climb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45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7589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965960"/>
            <a:ext cx="3047695" cy="4206240"/>
          </a:xfrm>
          <a:prstGeom prst="roundRect">
            <a:avLst>
              <a:gd name="adj" fmla="val 4500"/>
            </a:avLst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0" y="219456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line shows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778240" y="253288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tripled from 4,810 violations in 2016 to 14,898 in 2024.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78240" y="347472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 down in five years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78240" y="381304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dipped to 14,398 — the first year-over-year decline since 2021, but still nearly 3× the 2016 level.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778240" y="475488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volume 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78240" y="5093208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(6,728) and motor-vehicle theft (1,475) remain the top two organized-crime charges.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Canada, selected police services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Canada · July 2026 release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2026-08-13T23:06:54Z</dcterms:created>
  <dcterms:modified xsi:type="dcterms:W3CDTF">2026-08-13T23:06:54Z</dcterms:modified>
</cp:coreProperties>
</file>